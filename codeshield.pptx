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5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8516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PROYECTO FINAL · PROCESADORES DE LENGUAJES DE PROGRAMACIÓN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1463040" y="2743200"/>
            <a:ext cx="228600" cy="50292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" name="Text 2"/>
          <p:cNvSpPr/>
          <p:nvPr/>
        </p:nvSpPr>
        <p:spPr>
          <a:xfrm>
            <a:off x="1828800" y="256032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CodeShield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1828800" y="3611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Ofuscador y Deofuscador de Código Fuente Python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0" y="4297680"/>
            <a:ext cx="3657600" cy="18288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828800" y="4526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 Soracipa  ·  Cristian Medina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49377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Nacional de Colombia  ·  Ingeniería de Sistemas  · 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332720" y="5943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&lt;/&gt;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¿Por qué proteger el código fuente?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457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73152" cy="1234440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68680" y="1463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7A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7830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Distribución sin protección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una empresa distribuye scripts Python a clientes, cualquiera puede leer y copiar toda la lógica de negocio.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73152" cy="1234440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868680" y="29260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7A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2461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bytecode no protege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68680" y="36576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archivos .pyc son fácilmente decompilados por herramientas libres como decompile3 o uncompyle6.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389120"/>
            <a:ext cx="73152" cy="1234440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868680" y="43891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7A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470916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reales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68680" y="51206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Algoritmos de trading, herramientas SaaS, scripts industriales: todos distribuidos como .py expuestos.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583680" y="1463040"/>
            <a:ext cx="5029200" cy="420624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6583680" y="1463040"/>
            <a:ext cx="5029200" cy="365760"/>
          </a:xfrm>
          <a:prstGeom prst="rect">
            <a:avLst/>
          </a:prstGeom>
          <a:solidFill>
            <a:srgbClr val="1F242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6"/>
          <p:cNvSpPr/>
          <p:nvPr/>
        </p:nvSpPr>
        <p:spPr>
          <a:xfrm>
            <a:off x="6720840" y="1572768"/>
            <a:ext cx="164592" cy="16459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6949440" y="1572768"/>
            <a:ext cx="164592" cy="16459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7178040" y="1572768"/>
            <a:ext cx="164592" cy="16459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758952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calculadora_descuento.py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66560" y="1965960"/>
            <a:ext cx="47548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7A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300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calcular_precio_final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(precio, descuento):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fórmula propietaria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iva = </a:t>
            </a:r>
            <a:r>
              <a:rPr lang="en-US" sz="1300" dirty="0">
                <a:solidFill>
                  <a:srgbClr val="9B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0.19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 = precio * (</a:t>
            </a:r>
            <a:r>
              <a:rPr lang="en-US" sz="1300" dirty="0">
                <a:solidFill>
                  <a:srgbClr val="9B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descuento)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FF7A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base * (</a:t>
            </a:r>
            <a:r>
              <a:rPr lang="en-US" sz="1300" dirty="0">
                <a:solidFill>
                  <a:srgbClr val="9B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+ iva)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0" y="5166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7A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lógica de negocio expuesta a cualquier lector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Trabajos relacionados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457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120640" cy="2103120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120640" cy="731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1440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pyarmor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14400" y="24231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Ofuscador comercial. Requiere licencia. No usa análisis formal del AST.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120640" cy="2103120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6400800" y="1554480"/>
            <a:ext cx="5120640" cy="731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6675120" y="17830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pyminifier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675120" y="24231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Basado en regex. Frágil ante código complejo. No es reversible.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931920"/>
            <a:ext cx="5120640" cy="2103120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640080" y="3931920"/>
            <a:ext cx="5120640" cy="73152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914400" y="4160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Nuitka / Cython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914400" y="48006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Compilan Python a binario. No entregan .py al cliente final.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3931920"/>
            <a:ext cx="5120640" cy="2103120"/>
          </a:xfrm>
          <a:prstGeom prst="rect">
            <a:avLst/>
          </a:prstGeom>
          <a:solidFill>
            <a:srgbClr val="1F3247"/>
          </a:solidFill>
          <a:ln w="254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5"/>
          <p:cNvSpPr/>
          <p:nvPr/>
        </p:nvSpPr>
        <p:spPr>
          <a:xfrm>
            <a:off x="6400800" y="3931920"/>
            <a:ext cx="5120640" cy="73152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6675120" y="41605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CodeShield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75120" y="48006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formal con ANTLR v4. Reversible vía symbol_map. Adaptable y open.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332720" y="4160520"/>
            <a:ext cx="960120" cy="32004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10332720" y="4160520"/>
            <a:ext cx="960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NOSOTROS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Objetivo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457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828800"/>
            <a:ext cx="9418320" cy="2377440"/>
          </a:xfrm>
          <a:prstGeom prst="rect">
            <a:avLst/>
          </a:prstGeom>
          <a:solidFill>
            <a:srgbClr val="161B22"/>
          </a:solidFill>
          <a:ln w="254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371600" y="1828800"/>
            <a:ext cx="137160" cy="237744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1828800" y="2103120"/>
            <a:ext cx="8686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una herramienta CLI que transforme automáticamente código Python legible en una versión </a:t>
            </a:r>
            <a:r>
              <a:rPr lang="en-US" sz="1800" b="1" dirty="0">
                <a:solidFill>
                  <a:srgbClr val="4A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funcionalmente equivalente pero deliberadamente ilegible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usando un parser generado con ANTLR v4 y el patrón Visitor — y que permita </a:t>
            </a:r>
            <a:r>
              <a:rPr lang="en-US" sz="1800" b="1" dirty="0">
                <a:solidFill>
                  <a:srgbClr val="9BFF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revertir esa transformación</a:t>
            </a: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mediante un mapa de símbolos.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874520" y="4846320"/>
            <a:ext cx="2560320" cy="548640"/>
          </a:xfrm>
          <a:prstGeom prst="rect">
            <a:avLst/>
          </a:prstGeom>
          <a:solidFill>
            <a:srgbClr val="161B22"/>
          </a:solidFill>
          <a:ln w="254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874520" y="4846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Análisis formal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00600" y="4846320"/>
            <a:ext cx="2560320" cy="548640"/>
          </a:xfrm>
          <a:prstGeom prst="rect">
            <a:avLst/>
          </a:prstGeom>
          <a:solidFill>
            <a:srgbClr val="161B22"/>
          </a:solidFill>
          <a:ln w="25400">
            <a:solidFill>
              <a:srgbClr val="9BFF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4800600" y="4846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B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Reversible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26680" y="4846320"/>
            <a:ext cx="2560320" cy="548640"/>
          </a:xfrm>
          <a:prstGeom prst="rect">
            <a:avLst/>
          </a:prstGeom>
          <a:solidFill>
            <a:srgbClr val="161B22"/>
          </a:solidFill>
          <a:ln w="254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7726680" y="48463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7A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 Aplicación real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Arquitectura del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457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709160" y="1371600"/>
            <a:ext cx="2743200" cy="640080"/>
          </a:xfrm>
          <a:prstGeom prst="rect">
            <a:avLst/>
          </a:prstGeom>
          <a:solidFill>
            <a:srgbClr val="1C2330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4709160" y="1371600"/>
            <a:ext cx="73152" cy="64008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4892040" y="14173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archivo .py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92040" y="171907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062472" y="2057400"/>
            <a:ext cx="36576" cy="9144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3794760" y="2194560"/>
            <a:ext cx="4572000" cy="640080"/>
          </a:xfrm>
          <a:prstGeom prst="rect">
            <a:avLst/>
          </a:prstGeom>
          <a:solidFill>
            <a:srgbClr val="1C2330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Shape 8"/>
          <p:cNvSpPr/>
          <p:nvPr/>
        </p:nvSpPr>
        <p:spPr>
          <a:xfrm>
            <a:off x="3794760" y="2194560"/>
            <a:ext cx="73152" cy="64008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Text 9"/>
          <p:cNvSpPr/>
          <p:nvPr/>
        </p:nvSpPr>
        <p:spPr>
          <a:xfrm>
            <a:off x="3977640" y="224028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ANTLR Lexer + Parser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977640" y="2542032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ParseTree + TokenStream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62472" y="2880360"/>
            <a:ext cx="36576" cy="9144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Shape 12"/>
          <p:cNvSpPr/>
          <p:nvPr/>
        </p:nvSpPr>
        <p:spPr>
          <a:xfrm>
            <a:off x="3108960" y="3017520"/>
            <a:ext cx="5943600" cy="640080"/>
          </a:xfrm>
          <a:prstGeom prst="rect">
            <a:avLst/>
          </a:prstGeom>
          <a:solidFill>
            <a:srgbClr val="1C2330"/>
          </a:solidFill>
          <a:ln w="12700">
            <a:solidFill>
              <a:srgbClr val="9BFF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Shape 13"/>
          <p:cNvSpPr/>
          <p:nvPr/>
        </p:nvSpPr>
        <p:spPr>
          <a:xfrm>
            <a:off x="3108960" y="3017520"/>
            <a:ext cx="73152" cy="640080"/>
          </a:xfrm>
          <a:prstGeom prst="rect">
            <a:avLst/>
          </a:prstGeom>
          <a:solidFill>
            <a:srgbClr val="9BFF7A"/>
          </a:solidFill>
          <a:ln w="12700">
            <a:solidFill>
              <a:srgbClr val="9BFF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291840" y="30632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SymbolCollector Visitor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91840" y="33649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renombrables  →  SymbolTable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062472" y="3703320"/>
            <a:ext cx="36576" cy="9144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Shape 17"/>
          <p:cNvSpPr/>
          <p:nvPr/>
        </p:nvSpPr>
        <p:spPr>
          <a:xfrm>
            <a:off x="2651760" y="3840480"/>
            <a:ext cx="6858000" cy="640080"/>
          </a:xfrm>
          <a:prstGeom prst="rect">
            <a:avLst/>
          </a:prstGeom>
          <a:solidFill>
            <a:srgbClr val="1C2330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Shape 18"/>
          <p:cNvSpPr/>
          <p:nvPr/>
        </p:nvSpPr>
        <p:spPr>
          <a:xfrm>
            <a:off x="2651760" y="3840480"/>
            <a:ext cx="73152" cy="640080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1" name="Text 19"/>
          <p:cNvSpPr/>
          <p:nvPr/>
        </p:nvSpPr>
        <p:spPr>
          <a:xfrm>
            <a:off x="2834640" y="38862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 de transformaciones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834640" y="4187952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· comments · strings · dead-code (TokenStreamRewriter)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62472" y="4526280"/>
            <a:ext cx="36576" cy="9144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2"/>
          <p:cNvSpPr/>
          <p:nvPr/>
        </p:nvSpPr>
        <p:spPr>
          <a:xfrm>
            <a:off x="3108960" y="4663440"/>
            <a:ext cx="5943600" cy="640080"/>
          </a:xfrm>
          <a:prstGeom prst="rect">
            <a:avLst/>
          </a:prstGeom>
          <a:solidFill>
            <a:srgbClr val="1C2330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5" name="Shape 23"/>
          <p:cNvSpPr/>
          <p:nvPr/>
        </p:nvSpPr>
        <p:spPr>
          <a:xfrm>
            <a:off x="3108960" y="4663440"/>
            <a:ext cx="73152" cy="64008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Text 24"/>
          <p:cNvSpPr/>
          <p:nvPr/>
        </p:nvSpPr>
        <p:spPr>
          <a:xfrm>
            <a:off x="3291840" y="470916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salidas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291840" y="501091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obfuscated.py  +  symbol_map.json  +  report.html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Visitor para análisis  ·  TokenStreamRewriter para mutación  ·  Re-tokenización entre etapas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Implementación: el resultado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457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486400" cy="45720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5486400" cy="411480"/>
          </a:xfrm>
          <a:prstGeom prst="rect">
            <a:avLst/>
          </a:prstGeom>
          <a:solidFill>
            <a:srgbClr val="1F242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73152" cy="41148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822960" y="13716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 — código legible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5120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"""Calcula descuentos."""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7A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300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calcular_precio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(cantidad, descuento):</a:t>
            </a:r>
            <a:endParaRPr lang="en-US" sz="1300" dirty="0"/>
          </a:p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precio unitario base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 = cantidad * </a:t>
            </a:r>
            <a:r>
              <a:rPr lang="en-US" sz="1300" dirty="0">
                <a:solidFill>
                  <a:srgbClr val="9B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 = base * (</a:t>
            </a:r>
            <a:r>
              <a:rPr lang="en-US" sz="1300" dirty="0">
                <a:solidFill>
                  <a:srgbClr val="9B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descuento)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FF7A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total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 = calcular_precio(</a:t>
            </a:r>
            <a:r>
              <a:rPr lang="en-US" sz="1300" dirty="0">
                <a:solidFill>
                  <a:srgbClr val="9B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300" dirty="0">
                <a:solidFill>
                  <a:srgbClr val="9B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</a:t>
            </a:r>
            <a:r>
              <a:rPr lang="en-US" sz="1300" dirty="0">
                <a:solidFill>
                  <a:srgbClr val="9B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"Precio: "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resultado)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126480" y="3474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6766560" y="1371600"/>
            <a:ext cx="4846320" cy="457200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9"/>
          <p:cNvSpPr/>
          <p:nvPr/>
        </p:nvSpPr>
        <p:spPr>
          <a:xfrm>
            <a:off x="6766560" y="1371600"/>
            <a:ext cx="4846320" cy="411480"/>
          </a:xfrm>
          <a:prstGeom prst="rect">
            <a:avLst/>
          </a:prstGeom>
          <a:solidFill>
            <a:srgbClr val="1F242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6766560" y="1371600"/>
            <a:ext cx="73152" cy="411480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3" name="Text 11"/>
          <p:cNvSpPr/>
          <p:nvPr/>
        </p:nvSpPr>
        <p:spPr>
          <a:xfrm>
            <a:off x="6949440" y="13716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DESPUÉS — ofuscado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949440" y="1920240"/>
            <a:ext cx="45720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7A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100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_f0000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(_p0001, _p0002):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_v0003 = _p0001 * </a:t>
            </a:r>
            <a:r>
              <a:rPr lang="en-US" sz="1100" dirty="0">
                <a:solidFill>
                  <a:srgbClr val="9B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_v0004 = _v0003 * (</a:t>
            </a:r>
            <a:r>
              <a:rPr lang="en-US" sz="1100" dirty="0">
                <a:solidFill>
                  <a:srgbClr val="9B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- _p0002)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00" dirty="0">
                <a:solidFill>
                  <a:srgbClr val="FF7A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_v0004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_v0005 = _f0000(</a:t>
            </a:r>
            <a:r>
              <a:rPr lang="en-US" sz="1100" dirty="0">
                <a:solidFill>
                  <a:srgbClr val="9B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r>
              <a:rPr lang="en-US" sz="1100" dirty="0">
                <a:solidFill>
                  <a:srgbClr val="9B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0.1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print(__import__(</a:t>
            </a:r>
            <a:r>
              <a:rPr lang="en-US" sz="1100" dirty="0">
                <a:solidFill>
                  <a:srgbClr val="9B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"base64"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).b64decode(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9B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"UHJlY2lvOiA="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).decode(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"utf-8"), _v0005)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Tres transformaciones aplicadas:  renombrado · eliminación de comentarios/docstrings · cifrado de strings en Base64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Demostración en vivo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457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554480"/>
            <a:ext cx="9418320" cy="310896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371600" y="1554480"/>
            <a:ext cx="9418320" cy="411480"/>
          </a:xfrm>
          <a:prstGeom prst="rect">
            <a:avLst/>
          </a:prstGeom>
          <a:solidFill>
            <a:srgbClr val="1F2428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508760" y="1682496"/>
            <a:ext cx="182880" cy="182880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1764792" y="1682496"/>
            <a:ext cx="182880" cy="182880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2020824" y="1682496"/>
            <a:ext cx="182880" cy="182880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9" name="Text 7"/>
          <p:cNvSpPr/>
          <p:nvPr/>
        </p:nvSpPr>
        <p:spPr>
          <a:xfrm>
            <a:off x="2743200" y="1554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CodeShield — terminal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2103120"/>
            <a:ext cx="88696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B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PS&gt;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run.bat examples\input\01_simple.py --html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Código ofuscado:  examples\input\01_simple_obfuscated.py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Mapa de símbolos: examples\input\01_simple_symbol_map.json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Comparativa HTML: examples\input\01_simple_comparison.html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Estadísticas: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Identificadores renombrados:  6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Strings cifrados:             1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Comentarios eliminados:       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600200" y="5120640"/>
            <a:ext cx="548640" cy="5486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60020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60120" y="5760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88920" y="51206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703320" y="5120640"/>
            <a:ext cx="548640" cy="5486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4"/>
          <p:cNvSpPr/>
          <p:nvPr/>
        </p:nvSpPr>
        <p:spPr>
          <a:xfrm>
            <a:off x="370332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63240" y="5760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Ofuscar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92040" y="51206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806440" y="5120640"/>
            <a:ext cx="548640" cy="5486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0" name="Text 18"/>
          <p:cNvSpPr/>
          <p:nvPr/>
        </p:nvSpPr>
        <p:spPr>
          <a:xfrm>
            <a:off x="580644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166360" y="5760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 HTML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995160" y="51206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909560" y="5120640"/>
            <a:ext cx="548640" cy="5486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Text 22"/>
          <p:cNvSpPr/>
          <p:nvPr/>
        </p:nvSpPr>
        <p:spPr>
          <a:xfrm>
            <a:off x="790956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269480" y="5760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Ejecutar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098280" y="512064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0012680" y="5120640"/>
            <a:ext cx="548640" cy="54864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8" name="Text 26"/>
          <p:cNvSpPr/>
          <p:nvPr/>
        </p:nvSpPr>
        <p:spPr>
          <a:xfrm>
            <a:off x="10012680" y="5120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372600" y="5760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Deofuscar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Pruebas y validación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457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Casos de prueba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5943600" cy="457200"/>
          </a:xfrm>
          <a:prstGeom prst="rect">
            <a:avLst/>
          </a:prstGeom>
          <a:solidFill>
            <a:srgbClr val="1F324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Archivo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88920" y="18288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Contenido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257800" y="18288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286000"/>
            <a:ext cx="5943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777240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01_simple.py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788920" y="22860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+ variables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57800" y="228600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88920"/>
            <a:ext cx="5943600" cy="502920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777240" y="27889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02_classes.py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88920" y="2788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+ herencia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57800" y="2788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3291840"/>
            <a:ext cx="594360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Text 16"/>
          <p:cNvSpPr/>
          <p:nvPr/>
        </p:nvSpPr>
        <p:spPr>
          <a:xfrm>
            <a:off x="777240" y="3291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03_realistic.py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788920" y="32918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I/O + strings + dicts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57800" y="32918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794760"/>
            <a:ext cx="5943600" cy="502920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Text 20"/>
          <p:cNvSpPr/>
          <p:nvPr/>
        </p:nvSpPr>
        <p:spPr>
          <a:xfrm>
            <a:off x="777240" y="37947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04_advanced.py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88920" y="379476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Decoradores + lambdas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57800" y="379476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✓ pasa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040880" y="1371600"/>
            <a:ext cx="4572000" cy="1920240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4"/>
          <p:cNvSpPr/>
          <p:nvPr/>
        </p:nvSpPr>
        <p:spPr>
          <a:xfrm>
            <a:off x="7040880" y="1371600"/>
            <a:ext cx="91440" cy="1920240"/>
          </a:xfrm>
          <a:prstGeom prst="rect">
            <a:avLst/>
          </a:prstGeom>
          <a:solidFill>
            <a:srgbClr val="9BFF7A"/>
          </a:solidFill>
          <a:ln w="12700">
            <a:solidFill>
              <a:srgbClr val="9BFF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Text 25"/>
          <p:cNvSpPr/>
          <p:nvPr/>
        </p:nvSpPr>
        <p:spPr>
          <a:xfrm>
            <a:off x="7269480" y="150876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9B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100%</a:t>
            </a:r>
            <a:endParaRPr lang="en-US" sz="5800" dirty="0"/>
          </a:p>
        </p:txBody>
      </p:sp>
      <p:sp>
        <p:nvSpPr>
          <p:cNvPr id="28" name="Text 26"/>
          <p:cNvSpPr/>
          <p:nvPr/>
        </p:nvSpPr>
        <p:spPr>
          <a:xfrm>
            <a:off x="7269480" y="24688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Invariancia de comportamiento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269480" y="2834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output antes y después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7040880" y="3520440"/>
            <a:ext cx="4572000" cy="1920240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9"/>
          <p:cNvSpPr/>
          <p:nvPr/>
        </p:nvSpPr>
        <p:spPr>
          <a:xfrm>
            <a:off x="7040880" y="3520440"/>
            <a:ext cx="91440" cy="192024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30"/>
          <p:cNvSpPr/>
          <p:nvPr/>
        </p:nvSpPr>
        <p:spPr>
          <a:xfrm>
            <a:off x="7269480" y="365760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5800" dirty="0"/>
          </a:p>
        </p:txBody>
      </p:sp>
      <p:sp>
        <p:nvSpPr>
          <p:cNvPr id="33" name="Text 31"/>
          <p:cNvSpPr/>
          <p:nvPr/>
        </p:nvSpPr>
        <p:spPr>
          <a:xfrm>
            <a:off x="7269480" y="4617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Transformaciones independientes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7269480" y="4983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configurables vía flags del CLI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40080" y="5943600"/>
            <a:ext cx="10972800" cy="548640"/>
          </a:xfrm>
          <a:prstGeom prst="rect">
            <a:avLst/>
          </a:prstGeom>
          <a:solidFill>
            <a:srgbClr val="1C2330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6" name="Text 34"/>
          <p:cNvSpPr/>
          <p:nvPr/>
        </p:nvSpPr>
        <p:spPr>
          <a:xfrm>
            <a:off x="777240" y="59436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7A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Criterio: 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archivo ofuscado debe producir el mismo stdout que el original al ejecutarse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B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457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486400" cy="4297680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91440" cy="4297680"/>
          </a:xfrm>
          <a:prstGeom prst="rect">
            <a:avLst/>
          </a:prstGeom>
          <a:solidFill>
            <a:srgbClr val="9BFF7A"/>
          </a:solidFill>
          <a:ln w="12700">
            <a:solidFill>
              <a:srgbClr val="9BFF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Text 4"/>
          <p:cNvSpPr/>
          <p:nvPr/>
        </p:nvSpPr>
        <p:spPr>
          <a:xfrm>
            <a:off x="914400" y="150876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BFF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 que se logró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2240280"/>
            <a:ext cx="137160" cy="137160"/>
          </a:xfrm>
          <a:prstGeom prst="ellipse">
            <a:avLst/>
          </a:prstGeom>
          <a:solidFill>
            <a:srgbClr val="9BFF7A"/>
          </a:solidFill>
          <a:ln w="12700">
            <a:solidFill>
              <a:srgbClr val="9BFF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8" name="Text 6"/>
          <p:cNvSpPr/>
          <p:nvPr/>
        </p:nvSpPr>
        <p:spPr>
          <a:xfrm>
            <a:off x="1234440" y="214884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ANTLR v4 permite análisis formal y robusto del AST de Python.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60120" y="3108960"/>
            <a:ext cx="137160" cy="137160"/>
          </a:xfrm>
          <a:prstGeom prst="ellipse">
            <a:avLst/>
          </a:prstGeom>
          <a:solidFill>
            <a:srgbClr val="9BFF7A"/>
          </a:solidFill>
          <a:ln w="12700">
            <a:solidFill>
              <a:srgbClr val="9BFF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234440" y="301752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Visitor + TokenStreamRewriter produce transformaciones correctas sin destruir el formato.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" y="3977640"/>
            <a:ext cx="137160" cy="137160"/>
          </a:xfrm>
          <a:prstGeom prst="ellipse">
            <a:avLst/>
          </a:prstGeom>
          <a:solidFill>
            <a:srgbClr val="9BFF7A"/>
          </a:solidFill>
          <a:ln w="12700">
            <a:solidFill>
              <a:srgbClr val="9BFF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1234440" y="38862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symbol_map.json garantiza deofuscación determinista.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60120" y="4846320"/>
            <a:ext cx="137160" cy="137160"/>
          </a:xfrm>
          <a:prstGeom prst="ellipse">
            <a:avLst/>
          </a:prstGeom>
          <a:solidFill>
            <a:srgbClr val="9BFF7A"/>
          </a:solidFill>
          <a:ln w="12700">
            <a:solidFill>
              <a:srgbClr val="9BFF7A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4" name="Text 12"/>
          <p:cNvSpPr/>
          <p:nvPr/>
        </p:nvSpPr>
        <p:spPr>
          <a:xfrm>
            <a:off x="1234440" y="475488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ejemplos de código real validados con tests automatizados de invariancia.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1371600"/>
            <a:ext cx="5212080" cy="4297680"/>
          </a:xfrm>
          <a:prstGeom prst="rect">
            <a:avLst/>
          </a:prstGeom>
          <a:solidFill>
            <a:srgbClr val="1C2330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Shape 14"/>
          <p:cNvSpPr/>
          <p:nvPr/>
        </p:nvSpPr>
        <p:spPr>
          <a:xfrm>
            <a:off x="6400800" y="1371600"/>
            <a:ext cx="91440" cy="4297680"/>
          </a:xfrm>
          <a:prstGeom prst="rect">
            <a:avLst/>
          </a:prstGeom>
          <a:solidFill>
            <a:srgbClr val="FF7A59"/>
          </a:solidFill>
          <a:ln w="12700">
            <a:solidFill>
              <a:srgbClr val="FF7A59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Text 15"/>
          <p:cNvSpPr/>
          <p:nvPr/>
        </p:nvSpPr>
        <p:spPr>
          <a:xfrm>
            <a:off x="6675120" y="15087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7A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Trabajos futuros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75120" y="214884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7A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995160" y="214884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Aplanamiento de control de flujo (control flow flattening).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75120" y="30175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7A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95160" y="30175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Soporte multi-archivo con resolución de imports cruzados.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75120" y="38862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7A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95160" y="38862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como plugin de CI/CD.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4754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7A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995160" y="47548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gráfica para visualizar el AST interactivamente.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0080" y="5943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documentadas:  comentarios y docstrings eliminados no se recuperan  ·  f-strings no se cifran  ·  atributos de objeto no se renombran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Referencias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1247120" y="4572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234440" y="1554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Parr, T. (2013). The Definitive ANTLR 4 Reference. Pragmatic Bookshelf.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2103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Collberg, C., Thomborson, C., Low, D. (1997). A Taxonomy of Obfuscating Transformations. University of Auckland.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6517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ANTLR grammars-v4 repository. github.com/antlr/grammars-v4/tree/master/python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32004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ANTLR4 Python Target documentation. github.com/antlr/antlr4/blob/master/doc/python-target.md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34440" y="37490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TokenStreamRewriter (runtime Python). github.com/antlr/antlr4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0" y="5029200"/>
            <a:ext cx="4846320" cy="1097280"/>
          </a:xfrm>
          <a:prstGeom prst="rect">
            <a:avLst/>
          </a:prstGeom>
          <a:solidFill>
            <a:srgbClr val="161B22"/>
          </a:solidFill>
          <a:ln w="254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3"/>
          <p:cNvSpPr/>
          <p:nvPr/>
        </p:nvSpPr>
        <p:spPr>
          <a:xfrm>
            <a:off x="3657600" y="502920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¿Preguntas?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9E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CodeShield  ·  Universidad Nacional de Colombia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905</Words>
  <Application>Microsoft Office PowerPoint</Application>
  <PresentationFormat>Panorámica</PresentationFormat>
  <Paragraphs>169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CodeShield - Presentación</dc:title>
  <dc:subject>PptxGenJS Presentation</dc:subject>
  <dc:creator>Daniel Soracipa</dc:creator>
  <cp:lastModifiedBy>Cristian Medina</cp:lastModifiedBy>
  <cp:revision>2</cp:revision>
  <cp:lastPrinted>2026-06-03T13:49:39Z</cp:lastPrinted>
  <dcterms:created xsi:type="dcterms:W3CDTF">2026-06-03T02:43:44Z</dcterms:created>
  <dcterms:modified xsi:type="dcterms:W3CDTF">2026-06-03T13:53:34Z</dcterms:modified>
</cp:coreProperties>
</file>